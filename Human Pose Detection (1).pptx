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Nunito SemiBold"/>
      <p:regular r:id="rId10"/>
      <p:bold r:id="rId11"/>
      <p:italic r:id="rId12"/>
      <p:boldItalic r:id="rId13"/>
    </p:embeddedFont>
    <p:embeddedFont>
      <p:font typeface="Nunito"/>
      <p:regular r:id="rId14"/>
      <p:bold r:id="rId15"/>
      <p:italic r:id="rId16"/>
      <p:boldItalic r:id="rId17"/>
    </p:embeddedFont>
    <p:embeddedFont>
      <p:font typeface="Nunito Medium"/>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Medium-italic.fntdata"/><Relationship Id="rId11" Type="http://schemas.openxmlformats.org/officeDocument/2006/relationships/font" Target="fonts/NunitoSemiBold-bold.fntdata"/><Relationship Id="rId10" Type="http://schemas.openxmlformats.org/officeDocument/2006/relationships/font" Target="fonts/NunitoSemiBold-regular.fntdata"/><Relationship Id="rId21" Type="http://schemas.openxmlformats.org/officeDocument/2006/relationships/font" Target="fonts/NunitoMedium-boldItalic.fntdata"/><Relationship Id="rId13" Type="http://schemas.openxmlformats.org/officeDocument/2006/relationships/font" Target="fonts/NunitoSemiBold-boldItalic.fntdata"/><Relationship Id="rId12" Type="http://schemas.openxmlformats.org/officeDocument/2006/relationships/font" Target="fonts/NunitoSemi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fntdata"/><Relationship Id="rId14" Type="http://schemas.openxmlformats.org/officeDocument/2006/relationships/font" Target="fonts/Nunito-regular.fntdata"/><Relationship Id="rId17" Type="http://schemas.openxmlformats.org/officeDocument/2006/relationships/font" Target="fonts/Nunito-boldItalic.fntdata"/><Relationship Id="rId16" Type="http://schemas.openxmlformats.org/officeDocument/2006/relationships/font" Target="fonts/Nunito-italic.fntdata"/><Relationship Id="rId5" Type="http://schemas.openxmlformats.org/officeDocument/2006/relationships/notesMaster" Target="notesMasters/notesMaster1.xml"/><Relationship Id="rId19" Type="http://schemas.openxmlformats.org/officeDocument/2006/relationships/font" Target="fonts/NunitoMedium-bold.fntdata"/><Relationship Id="rId6" Type="http://schemas.openxmlformats.org/officeDocument/2006/relationships/slide" Target="slides/slide1.xml"/><Relationship Id="rId18" Type="http://schemas.openxmlformats.org/officeDocument/2006/relationships/font" Target="fonts/NunitoMedium-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1efd57e846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1efd57e846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1efd57e846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1efd57e846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3c63a5058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3c63a5058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3c63a5058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3c63a5058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10" Type="http://schemas.openxmlformats.org/officeDocument/2006/relationships/image" Target="../media/image1.jpg"/><Relationship Id="rId9" Type="http://schemas.openxmlformats.org/officeDocument/2006/relationships/image" Target="../media/image5.jp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8.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rxiv.org/search/cs?searchtype=author&amp;query=Verma%2C+M" TargetMode="External"/><Relationship Id="rId4" Type="http://schemas.openxmlformats.org/officeDocument/2006/relationships/hyperlink" Target="https://arxiv.org/search/cs?searchtype=author&amp;query=Kumawat%2C+S" TargetMode="External"/><Relationship Id="rId5" Type="http://schemas.openxmlformats.org/officeDocument/2006/relationships/hyperlink" Target="https://arxiv.org/search/cs?searchtype=author&amp;query=Nakashima%2C+Y" TargetMode="External"/><Relationship Id="rId6" Type="http://schemas.openxmlformats.org/officeDocument/2006/relationships/hyperlink" Target="https://arxiv.org/search/cs?searchtype=author&amp;query=Raman%2C+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title"/>
          </p:nvPr>
        </p:nvSpPr>
        <p:spPr>
          <a:xfrm>
            <a:off x="819150" y="348650"/>
            <a:ext cx="7505700" cy="13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700">
                <a:solidFill>
                  <a:schemeClr val="dk2"/>
                </a:solidFill>
              </a:rPr>
              <a:t>Human Pose Detection</a:t>
            </a:r>
            <a:endParaRPr b="1" sz="3700">
              <a:solidFill>
                <a:schemeClr val="dk2"/>
              </a:solidFill>
            </a:endParaRPr>
          </a:p>
          <a:p>
            <a:pPr indent="0" lvl="0" marL="1371600" rtl="0" algn="l">
              <a:spcBef>
                <a:spcPts val="0"/>
              </a:spcBef>
              <a:spcAft>
                <a:spcPts val="0"/>
              </a:spcAft>
              <a:buNone/>
            </a:pPr>
            <a:r>
              <a:rPr b="1" lang="en" sz="1500">
                <a:solidFill>
                  <a:schemeClr val="dk2"/>
                </a:solidFill>
              </a:rPr>
              <a:t>- Harshitha Polsani, Venkata Ramya Vardineni, </a:t>
            </a:r>
            <a:r>
              <a:rPr b="1" lang="en" sz="1500">
                <a:solidFill>
                  <a:schemeClr val="dk2"/>
                </a:solidFill>
              </a:rPr>
              <a:t>Anusha Yarrasani</a:t>
            </a:r>
            <a:endParaRPr b="1" sz="1500">
              <a:solidFill>
                <a:schemeClr val="dk2"/>
              </a:solidFill>
            </a:endParaRPr>
          </a:p>
        </p:txBody>
      </p:sp>
      <p:sp>
        <p:nvSpPr>
          <p:cNvPr id="129" name="Google Shape;129;p13"/>
          <p:cNvSpPr txBox="1"/>
          <p:nvPr/>
        </p:nvSpPr>
        <p:spPr>
          <a:xfrm>
            <a:off x="1059600" y="1541050"/>
            <a:ext cx="7024800" cy="2630400"/>
          </a:xfrm>
          <a:prstGeom prst="rect">
            <a:avLst/>
          </a:prstGeom>
          <a:noFill/>
          <a:ln>
            <a:noFill/>
          </a:ln>
        </p:spPr>
        <p:txBody>
          <a:bodyPr anchorCtr="0" anchor="t" bIns="91425" lIns="91425" spcFirstLastPara="1" rIns="91425" wrap="square" tIns="91425">
            <a:spAutoFit/>
          </a:bodyPr>
          <a:lstStyle/>
          <a:p>
            <a:pPr indent="-361950" lvl="0" marL="457200" rtl="0" algn="l">
              <a:lnSpc>
                <a:spcPct val="115000"/>
              </a:lnSpc>
              <a:spcBef>
                <a:spcPts val="0"/>
              </a:spcBef>
              <a:spcAft>
                <a:spcPts val="0"/>
              </a:spcAft>
              <a:buSzPts val="2100"/>
              <a:buFont typeface="Nunito Medium"/>
              <a:buChar char="●"/>
            </a:pPr>
            <a:r>
              <a:rPr lang="en">
                <a:highlight>
                  <a:schemeClr val="dk1"/>
                </a:highlight>
                <a:latin typeface="Nunito Medium"/>
                <a:ea typeface="Nunito Medium"/>
                <a:cs typeface="Nunito Medium"/>
                <a:sym typeface="Nunito Medium"/>
              </a:rPr>
              <a:t>Human pose detection is a computer vision technique used to detect and identify human joints or key points in images. </a:t>
            </a:r>
            <a:endParaRPr>
              <a:highlight>
                <a:schemeClr val="dk1"/>
              </a:highlight>
              <a:latin typeface="Nunito Medium"/>
              <a:ea typeface="Nunito Medium"/>
              <a:cs typeface="Nunito Medium"/>
              <a:sym typeface="Nunito Medium"/>
            </a:endParaRPr>
          </a:p>
          <a:p>
            <a:pPr indent="-361950" lvl="0" marL="457200" rtl="0" algn="l">
              <a:lnSpc>
                <a:spcPct val="115000"/>
              </a:lnSpc>
              <a:spcBef>
                <a:spcPts val="0"/>
              </a:spcBef>
              <a:spcAft>
                <a:spcPts val="0"/>
              </a:spcAft>
              <a:buSzPts val="2100"/>
              <a:buFont typeface="Nunito Medium"/>
              <a:buChar char="●"/>
            </a:pPr>
            <a:r>
              <a:rPr lang="en">
                <a:highlight>
                  <a:schemeClr val="dk1"/>
                </a:highlight>
                <a:latin typeface="Nunito Medium"/>
                <a:ea typeface="Nunito Medium"/>
                <a:cs typeface="Nunito Medium"/>
                <a:sym typeface="Nunito Medium"/>
              </a:rPr>
              <a:t>It involves analyzing the spatial arrangement of various body parts, such as the head, arms, and legs, and estimating their relative positions.</a:t>
            </a:r>
            <a:endParaRPr>
              <a:highlight>
                <a:schemeClr val="dk1"/>
              </a:highlight>
              <a:latin typeface="Nunito Medium"/>
              <a:ea typeface="Nunito Medium"/>
              <a:cs typeface="Nunito Medium"/>
              <a:sym typeface="Nunito Medium"/>
            </a:endParaRPr>
          </a:p>
          <a:p>
            <a:pPr indent="-361950" lvl="0" marL="457200" rtl="0" algn="l">
              <a:lnSpc>
                <a:spcPct val="115000"/>
              </a:lnSpc>
              <a:spcBef>
                <a:spcPts val="0"/>
              </a:spcBef>
              <a:spcAft>
                <a:spcPts val="0"/>
              </a:spcAft>
              <a:buSzPts val="2100"/>
              <a:buFont typeface="Nunito Medium"/>
              <a:buChar char="●"/>
            </a:pPr>
            <a:r>
              <a:rPr lang="en">
                <a:highlight>
                  <a:schemeClr val="dk1"/>
                </a:highlight>
                <a:latin typeface="Nunito Medium"/>
                <a:ea typeface="Nunito Medium"/>
                <a:cs typeface="Nunito Medium"/>
                <a:sym typeface="Nunito Medium"/>
              </a:rPr>
              <a:t>The objective of Human Pose Detection is to generate a set of keypoints that accurately represent the pose of a human. </a:t>
            </a:r>
            <a:endParaRPr>
              <a:highlight>
                <a:schemeClr val="dk1"/>
              </a:highlight>
              <a:latin typeface="Nunito Medium"/>
              <a:ea typeface="Nunito Medium"/>
              <a:cs typeface="Nunito Medium"/>
              <a:sym typeface="Nunito Medium"/>
            </a:endParaRPr>
          </a:p>
          <a:p>
            <a:pPr indent="-361950" lvl="0" marL="457200" rtl="0" algn="l">
              <a:lnSpc>
                <a:spcPct val="115000"/>
              </a:lnSpc>
              <a:spcBef>
                <a:spcPts val="0"/>
              </a:spcBef>
              <a:spcAft>
                <a:spcPts val="0"/>
              </a:spcAft>
              <a:buSzPts val="2100"/>
              <a:buFont typeface="Nunito Medium"/>
              <a:buChar char="●"/>
            </a:pPr>
            <a:r>
              <a:rPr lang="en">
                <a:highlight>
                  <a:schemeClr val="dk1"/>
                </a:highlight>
                <a:latin typeface="Nunito Medium"/>
                <a:ea typeface="Nunito Medium"/>
                <a:cs typeface="Nunito Medium"/>
                <a:sym typeface="Nunito Medium"/>
              </a:rPr>
              <a:t>These key points can be used in various applications such as motion recognition, virtual testing, fitness tracking and monitoring.</a:t>
            </a:r>
            <a:endParaRPr>
              <a:latin typeface="Nunito Medium"/>
              <a:ea typeface="Nunito Medium"/>
              <a:cs typeface="Nunito Medium"/>
              <a:sym typeface="Nunit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391100"/>
            <a:ext cx="7505700" cy="90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Methodology</a:t>
            </a:r>
            <a:r>
              <a:rPr lang="en"/>
              <a:t>:</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6" name="Google Shape;136;p14"/>
          <p:cNvPicPr preferRelativeResize="0"/>
          <p:nvPr/>
        </p:nvPicPr>
        <p:blipFill>
          <a:blip r:embed="rId3">
            <a:alphaModFix/>
          </a:blip>
          <a:stretch>
            <a:fillRect/>
          </a:stretch>
        </p:blipFill>
        <p:spPr>
          <a:xfrm>
            <a:off x="685200" y="992025"/>
            <a:ext cx="7872349" cy="3972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319825"/>
            <a:ext cx="7505700" cy="529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Experimental Results</a:t>
            </a:r>
            <a:r>
              <a:rPr lang="en"/>
              <a:t>:</a:t>
            </a:r>
            <a:endParaRPr/>
          </a:p>
        </p:txBody>
      </p:sp>
      <p:pic>
        <p:nvPicPr>
          <p:cNvPr id="142" name="Google Shape;142;p15"/>
          <p:cNvPicPr preferRelativeResize="0"/>
          <p:nvPr/>
        </p:nvPicPr>
        <p:blipFill>
          <a:blip r:embed="rId3">
            <a:alphaModFix/>
          </a:blip>
          <a:stretch>
            <a:fillRect/>
          </a:stretch>
        </p:blipFill>
        <p:spPr>
          <a:xfrm>
            <a:off x="501100" y="992025"/>
            <a:ext cx="1721301" cy="1059250"/>
          </a:xfrm>
          <a:prstGeom prst="rect">
            <a:avLst/>
          </a:prstGeom>
          <a:noFill/>
          <a:ln>
            <a:noFill/>
          </a:ln>
        </p:spPr>
      </p:pic>
      <p:pic>
        <p:nvPicPr>
          <p:cNvPr id="143" name="Google Shape;143;p15"/>
          <p:cNvPicPr preferRelativeResize="0"/>
          <p:nvPr/>
        </p:nvPicPr>
        <p:blipFill>
          <a:blip r:embed="rId4">
            <a:alphaModFix/>
          </a:blip>
          <a:stretch>
            <a:fillRect/>
          </a:stretch>
        </p:blipFill>
        <p:spPr>
          <a:xfrm>
            <a:off x="2382200" y="992025"/>
            <a:ext cx="1897601" cy="1059251"/>
          </a:xfrm>
          <a:prstGeom prst="rect">
            <a:avLst/>
          </a:prstGeom>
          <a:noFill/>
          <a:ln>
            <a:noFill/>
          </a:ln>
        </p:spPr>
      </p:pic>
      <p:pic>
        <p:nvPicPr>
          <p:cNvPr id="144" name="Google Shape;144;p15"/>
          <p:cNvPicPr preferRelativeResize="0"/>
          <p:nvPr/>
        </p:nvPicPr>
        <p:blipFill>
          <a:blip r:embed="rId5">
            <a:alphaModFix/>
          </a:blip>
          <a:stretch>
            <a:fillRect/>
          </a:stretch>
        </p:blipFill>
        <p:spPr>
          <a:xfrm>
            <a:off x="2382200" y="2193975"/>
            <a:ext cx="1897600" cy="1140725"/>
          </a:xfrm>
          <a:prstGeom prst="rect">
            <a:avLst/>
          </a:prstGeom>
          <a:noFill/>
          <a:ln>
            <a:noFill/>
          </a:ln>
        </p:spPr>
      </p:pic>
      <p:pic>
        <p:nvPicPr>
          <p:cNvPr id="145" name="Google Shape;145;p15"/>
          <p:cNvPicPr preferRelativeResize="0"/>
          <p:nvPr/>
        </p:nvPicPr>
        <p:blipFill>
          <a:blip r:embed="rId6">
            <a:alphaModFix/>
          </a:blip>
          <a:stretch>
            <a:fillRect/>
          </a:stretch>
        </p:blipFill>
        <p:spPr>
          <a:xfrm>
            <a:off x="501100" y="3405900"/>
            <a:ext cx="1721301" cy="1364824"/>
          </a:xfrm>
          <a:prstGeom prst="rect">
            <a:avLst/>
          </a:prstGeom>
          <a:noFill/>
          <a:ln>
            <a:noFill/>
          </a:ln>
        </p:spPr>
      </p:pic>
      <p:pic>
        <p:nvPicPr>
          <p:cNvPr id="146" name="Google Shape;146;p15"/>
          <p:cNvPicPr preferRelativeResize="0"/>
          <p:nvPr/>
        </p:nvPicPr>
        <p:blipFill>
          <a:blip r:embed="rId7">
            <a:alphaModFix/>
          </a:blip>
          <a:stretch>
            <a:fillRect/>
          </a:stretch>
        </p:blipFill>
        <p:spPr>
          <a:xfrm>
            <a:off x="2382200" y="3405900"/>
            <a:ext cx="1897600" cy="1364825"/>
          </a:xfrm>
          <a:prstGeom prst="rect">
            <a:avLst/>
          </a:prstGeom>
          <a:noFill/>
          <a:ln>
            <a:noFill/>
          </a:ln>
        </p:spPr>
      </p:pic>
      <p:pic>
        <p:nvPicPr>
          <p:cNvPr id="147" name="Google Shape;147;p15"/>
          <p:cNvPicPr preferRelativeResize="0"/>
          <p:nvPr/>
        </p:nvPicPr>
        <p:blipFill>
          <a:blip r:embed="rId8">
            <a:alphaModFix/>
          </a:blip>
          <a:stretch>
            <a:fillRect/>
          </a:stretch>
        </p:blipFill>
        <p:spPr>
          <a:xfrm>
            <a:off x="501100" y="2193975"/>
            <a:ext cx="1721300" cy="1140725"/>
          </a:xfrm>
          <a:prstGeom prst="rect">
            <a:avLst/>
          </a:prstGeom>
          <a:noFill/>
          <a:ln>
            <a:noFill/>
          </a:ln>
        </p:spPr>
      </p:pic>
      <p:pic>
        <p:nvPicPr>
          <p:cNvPr id="148" name="Google Shape;148;p15"/>
          <p:cNvPicPr preferRelativeResize="0"/>
          <p:nvPr/>
        </p:nvPicPr>
        <p:blipFill>
          <a:blip r:embed="rId9">
            <a:alphaModFix/>
          </a:blip>
          <a:stretch>
            <a:fillRect/>
          </a:stretch>
        </p:blipFill>
        <p:spPr>
          <a:xfrm>
            <a:off x="4512675" y="2571750"/>
            <a:ext cx="4046950" cy="2198975"/>
          </a:xfrm>
          <a:prstGeom prst="rect">
            <a:avLst/>
          </a:prstGeom>
          <a:noFill/>
          <a:ln>
            <a:noFill/>
          </a:ln>
        </p:spPr>
      </p:pic>
      <p:pic>
        <p:nvPicPr>
          <p:cNvPr id="149" name="Google Shape;149;p15"/>
          <p:cNvPicPr preferRelativeResize="0"/>
          <p:nvPr/>
        </p:nvPicPr>
        <p:blipFill>
          <a:blip r:embed="rId10">
            <a:alphaModFix/>
          </a:blip>
          <a:stretch>
            <a:fillRect/>
          </a:stretch>
        </p:blipFill>
        <p:spPr>
          <a:xfrm>
            <a:off x="4512675" y="764825"/>
            <a:ext cx="4046951" cy="1806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819150" y="845600"/>
            <a:ext cx="7505700" cy="808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References:</a:t>
            </a:r>
            <a:endParaRPr b="1"/>
          </a:p>
        </p:txBody>
      </p:sp>
      <p:sp>
        <p:nvSpPr>
          <p:cNvPr id="155" name="Google Shape;155;p16"/>
          <p:cNvSpPr txBox="1"/>
          <p:nvPr>
            <p:ph idx="1" type="body"/>
          </p:nvPr>
        </p:nvSpPr>
        <p:spPr>
          <a:xfrm>
            <a:off x="819150" y="1497400"/>
            <a:ext cx="7505700" cy="29415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Clr>
                <a:srgbClr val="000000"/>
              </a:buClr>
              <a:buSzPts val="1200"/>
              <a:buFont typeface="Nunito SemiBold"/>
              <a:buAutoNum type="arabicPeriod"/>
            </a:pPr>
            <a:r>
              <a:rPr lang="en" sz="1200">
                <a:solidFill>
                  <a:srgbClr val="000000"/>
                </a:solidFill>
                <a:highlight>
                  <a:srgbClr val="FFFFFF"/>
                </a:highlight>
                <a:latin typeface="Nunito SemiBold"/>
                <a:ea typeface="Nunito SemiBold"/>
                <a:cs typeface="Nunito SemiBold"/>
                <a:sym typeface="Nunito SemiBold"/>
              </a:rPr>
              <a:t>“</a:t>
            </a:r>
            <a:r>
              <a:rPr lang="en" sz="1200">
                <a:solidFill>
                  <a:srgbClr val="000000"/>
                </a:solidFill>
                <a:highlight>
                  <a:srgbClr val="FFFFFF"/>
                </a:highlight>
                <a:latin typeface="Nunito SemiBold"/>
                <a:ea typeface="Nunito SemiBold"/>
                <a:cs typeface="Nunito SemiBold"/>
                <a:sym typeface="Nunito SemiBold"/>
              </a:rPr>
              <a:t>Yoga-82: A New Dataset for Fine-grained Classification of Human Poses”, </a:t>
            </a:r>
            <a:r>
              <a:rPr lang="en" sz="1200">
                <a:solidFill>
                  <a:srgbClr val="000000"/>
                </a:solidFill>
                <a:highlight>
                  <a:srgbClr val="FFFFFF"/>
                </a:highlight>
                <a:uFill>
                  <a:noFill/>
                </a:uFill>
                <a:latin typeface="Nunito SemiBold"/>
                <a:ea typeface="Nunito SemiBold"/>
                <a:cs typeface="Nunito SemiBold"/>
                <a:sym typeface="Nunito SemiBold"/>
                <a:hlinkClick r:id="rId3">
                  <a:extLst>
                    <a:ext uri="{A12FA001-AC4F-418D-AE19-62706E023703}">
                      <ahyp:hlinkClr val="tx"/>
                    </a:ext>
                  </a:extLst>
                </a:hlinkClick>
              </a:rPr>
              <a:t>Manisha Verma</a:t>
            </a:r>
            <a:r>
              <a:rPr lang="en" sz="1200">
                <a:solidFill>
                  <a:srgbClr val="000000"/>
                </a:solidFill>
                <a:highlight>
                  <a:srgbClr val="FFFFFF"/>
                </a:highlight>
                <a:latin typeface="Nunito SemiBold"/>
                <a:ea typeface="Nunito SemiBold"/>
                <a:cs typeface="Nunito SemiBold"/>
                <a:sym typeface="Nunito SemiBold"/>
              </a:rPr>
              <a:t>, </a:t>
            </a:r>
            <a:r>
              <a:rPr lang="en" sz="1200">
                <a:solidFill>
                  <a:srgbClr val="000000"/>
                </a:solidFill>
                <a:highlight>
                  <a:srgbClr val="FFFFFF"/>
                </a:highlight>
                <a:uFill>
                  <a:noFill/>
                </a:uFill>
                <a:latin typeface="Nunito SemiBold"/>
                <a:ea typeface="Nunito SemiBold"/>
                <a:cs typeface="Nunito SemiBold"/>
                <a:sym typeface="Nunito SemiBold"/>
                <a:hlinkClick r:id="rId4">
                  <a:extLst>
                    <a:ext uri="{A12FA001-AC4F-418D-AE19-62706E023703}">
                      <ahyp:hlinkClr val="tx"/>
                    </a:ext>
                  </a:extLst>
                </a:hlinkClick>
              </a:rPr>
              <a:t>Sudhakar Kumawat</a:t>
            </a:r>
            <a:r>
              <a:rPr lang="en" sz="1200">
                <a:solidFill>
                  <a:srgbClr val="000000"/>
                </a:solidFill>
                <a:highlight>
                  <a:srgbClr val="FFFFFF"/>
                </a:highlight>
                <a:latin typeface="Nunito SemiBold"/>
                <a:ea typeface="Nunito SemiBold"/>
                <a:cs typeface="Nunito SemiBold"/>
                <a:sym typeface="Nunito SemiBold"/>
              </a:rPr>
              <a:t>, </a:t>
            </a:r>
            <a:r>
              <a:rPr lang="en" sz="1200">
                <a:solidFill>
                  <a:srgbClr val="000000"/>
                </a:solidFill>
                <a:highlight>
                  <a:srgbClr val="FFFFFF"/>
                </a:highlight>
                <a:uFill>
                  <a:noFill/>
                </a:uFill>
                <a:latin typeface="Nunito SemiBold"/>
                <a:ea typeface="Nunito SemiBold"/>
                <a:cs typeface="Nunito SemiBold"/>
                <a:sym typeface="Nunito SemiBold"/>
                <a:hlinkClick r:id="rId5">
                  <a:extLst>
                    <a:ext uri="{A12FA001-AC4F-418D-AE19-62706E023703}">
                      <ahyp:hlinkClr val="tx"/>
                    </a:ext>
                  </a:extLst>
                </a:hlinkClick>
              </a:rPr>
              <a:t>Yuta Nakashima</a:t>
            </a:r>
            <a:r>
              <a:rPr lang="en" sz="1200">
                <a:solidFill>
                  <a:srgbClr val="000000"/>
                </a:solidFill>
                <a:highlight>
                  <a:srgbClr val="FFFFFF"/>
                </a:highlight>
                <a:latin typeface="Nunito SemiBold"/>
                <a:ea typeface="Nunito SemiBold"/>
                <a:cs typeface="Nunito SemiBold"/>
                <a:sym typeface="Nunito SemiBold"/>
              </a:rPr>
              <a:t>, </a:t>
            </a:r>
            <a:r>
              <a:rPr lang="en" sz="1200">
                <a:solidFill>
                  <a:srgbClr val="000000"/>
                </a:solidFill>
                <a:highlight>
                  <a:srgbClr val="FFFFFF"/>
                </a:highlight>
                <a:uFill>
                  <a:noFill/>
                </a:uFill>
                <a:latin typeface="Nunito SemiBold"/>
                <a:ea typeface="Nunito SemiBold"/>
                <a:cs typeface="Nunito SemiBold"/>
                <a:sym typeface="Nunito SemiBold"/>
                <a:hlinkClick r:id="rId6">
                  <a:extLst>
                    <a:ext uri="{A12FA001-AC4F-418D-AE19-62706E023703}">
                      <ahyp:hlinkClr val="tx"/>
                    </a:ext>
                  </a:extLst>
                </a:hlinkClick>
              </a:rPr>
              <a:t>Shanmuganathan Raman</a:t>
            </a:r>
            <a:r>
              <a:rPr lang="en" sz="1200">
                <a:solidFill>
                  <a:srgbClr val="000000"/>
                </a:solidFill>
                <a:highlight>
                  <a:srgbClr val="FFFFFF"/>
                </a:highlight>
                <a:latin typeface="Nunito SemiBold"/>
                <a:ea typeface="Nunito SemiBold"/>
                <a:cs typeface="Nunito SemiBold"/>
                <a:sym typeface="Nunito SemiBold"/>
              </a:rPr>
              <a:t>, in </a:t>
            </a:r>
            <a:r>
              <a:rPr lang="en" sz="1200">
                <a:solidFill>
                  <a:srgbClr val="000000"/>
                </a:solidFill>
                <a:latin typeface="Nunito SemiBold"/>
                <a:ea typeface="Nunito SemiBold"/>
                <a:cs typeface="Nunito SemiBold"/>
                <a:sym typeface="Nunito SemiBold"/>
              </a:rPr>
              <a:t>ARXIV</a:t>
            </a:r>
            <a:r>
              <a:rPr lang="en" sz="1200">
                <a:solidFill>
                  <a:srgbClr val="000000"/>
                </a:solidFill>
                <a:highlight>
                  <a:srgbClr val="FFFFFF"/>
                </a:highlight>
                <a:latin typeface="Nunito SemiBold"/>
                <a:ea typeface="Nunito SemiBold"/>
                <a:cs typeface="Nunito SemiBold"/>
                <a:sym typeface="Nunito SemiBold"/>
              </a:rPr>
              <a:t>, 2020.</a:t>
            </a:r>
            <a:endParaRPr sz="1200">
              <a:solidFill>
                <a:srgbClr val="000000"/>
              </a:solidFill>
              <a:highlight>
                <a:srgbClr val="FFFFFF"/>
              </a:highlight>
              <a:latin typeface="Nunito SemiBold"/>
              <a:ea typeface="Nunito SemiBold"/>
              <a:cs typeface="Nunito SemiBold"/>
              <a:sym typeface="Nunito SemiBold"/>
            </a:endParaRPr>
          </a:p>
          <a:p>
            <a:pPr indent="-304800" lvl="0" marL="457200" rtl="0" algn="l">
              <a:lnSpc>
                <a:spcPct val="100000"/>
              </a:lnSpc>
              <a:spcBef>
                <a:spcPts val="900"/>
              </a:spcBef>
              <a:spcAft>
                <a:spcPts val="0"/>
              </a:spcAft>
              <a:buClr>
                <a:srgbClr val="000000"/>
              </a:buClr>
              <a:buSzPts val="1200"/>
              <a:buFont typeface="Nunito SemiBold"/>
              <a:buAutoNum type="arabicPeriod"/>
            </a:pPr>
            <a:r>
              <a:rPr lang="en" sz="1200">
                <a:solidFill>
                  <a:srgbClr val="000000"/>
                </a:solidFill>
                <a:highlight>
                  <a:srgbClr val="FFFFFF"/>
                </a:highlight>
                <a:latin typeface="Nunito SemiBold"/>
                <a:ea typeface="Nunito SemiBold"/>
                <a:cs typeface="Nunito SemiBold"/>
                <a:sym typeface="Nunito SemiBold"/>
              </a:rPr>
              <a:t>“Yoga Pose Detection and Correction using Posenet and KNN”, Varsha Bhosale, Pranjal Nandeshwar, Abhishek Bale, Janmesh Sankhe, in IRJET, 2022.</a:t>
            </a:r>
            <a:endParaRPr sz="1200">
              <a:solidFill>
                <a:srgbClr val="000000"/>
              </a:solidFill>
              <a:latin typeface="Nunito SemiBold"/>
              <a:ea typeface="Nunito SemiBold"/>
              <a:cs typeface="Nunito SemiBold"/>
              <a:sym typeface="Nunito SemiBold"/>
            </a:endParaRPr>
          </a:p>
          <a:p>
            <a:pPr indent="-304800" lvl="0" marL="457200" rtl="0" algn="just">
              <a:lnSpc>
                <a:spcPct val="100000"/>
              </a:lnSpc>
              <a:spcBef>
                <a:spcPts val="900"/>
              </a:spcBef>
              <a:spcAft>
                <a:spcPts val="0"/>
              </a:spcAft>
              <a:buClr>
                <a:srgbClr val="000000"/>
              </a:buClr>
              <a:buSzPts val="1200"/>
              <a:buFont typeface="Nunito SemiBold"/>
              <a:buAutoNum type="arabicPeriod"/>
            </a:pPr>
            <a:r>
              <a:rPr lang="en" sz="1200">
                <a:solidFill>
                  <a:srgbClr val="000000"/>
                </a:solidFill>
                <a:latin typeface="Nunito SemiBold"/>
                <a:ea typeface="Nunito SemiBold"/>
                <a:cs typeface="Nunito SemiBold"/>
                <a:sym typeface="Nunito SemiBold"/>
              </a:rPr>
              <a:t>“Yoga Pose Classification Using Deep Learning,” Shruti Kothari, Robert Chun, Katerina Potika, and Susmit Gaikwad.</a:t>
            </a:r>
            <a:endParaRPr sz="1200">
              <a:solidFill>
                <a:srgbClr val="000000"/>
              </a:solidFill>
              <a:latin typeface="Nunito SemiBold"/>
              <a:ea typeface="Nunito SemiBold"/>
              <a:cs typeface="Nunito SemiBold"/>
              <a:sym typeface="Nunito SemiBold"/>
            </a:endParaRPr>
          </a:p>
          <a:p>
            <a:pPr indent="-304800" lvl="0" marL="457200" rtl="0" algn="just">
              <a:lnSpc>
                <a:spcPct val="100000"/>
              </a:lnSpc>
              <a:spcBef>
                <a:spcPts val="1000"/>
              </a:spcBef>
              <a:spcAft>
                <a:spcPts val="0"/>
              </a:spcAft>
              <a:buClr>
                <a:srgbClr val="000000"/>
              </a:buClr>
              <a:buSzPts val="1200"/>
              <a:buFont typeface="Nunito SemiBold"/>
              <a:buAutoNum type="arabicPeriod"/>
            </a:pPr>
            <a:r>
              <a:rPr lang="en" sz="1200">
                <a:solidFill>
                  <a:srgbClr val="000000"/>
                </a:solidFill>
                <a:latin typeface="Nunito SemiBold"/>
                <a:ea typeface="Nunito SemiBold"/>
                <a:cs typeface="Nunito SemiBold"/>
                <a:sym typeface="Nunito SemiBold"/>
              </a:rPr>
              <a:t>“Yoga Pose Estimation and feedback Generation Using Deep Learning,” Vivek Anand Thoutam, Anugrah Srivastava, Tapas Badal, Vipul Kumar Mishra, G. R. Sinha, Aditi Sakalle, Harshit Bhardwaj, and Manish Raj. in PMC, 2022.</a:t>
            </a:r>
            <a:endParaRPr sz="1200">
              <a:solidFill>
                <a:srgbClr val="000000"/>
              </a:solidFill>
              <a:latin typeface="Nunito SemiBold"/>
              <a:ea typeface="Nunito SemiBold"/>
              <a:cs typeface="Nunito SemiBold"/>
              <a:sym typeface="Nunito SemiBold"/>
            </a:endParaRPr>
          </a:p>
          <a:p>
            <a:pPr indent="-304800" lvl="0" marL="457200" rtl="0" algn="just">
              <a:lnSpc>
                <a:spcPct val="115000"/>
              </a:lnSpc>
              <a:spcBef>
                <a:spcPts val="1000"/>
              </a:spcBef>
              <a:spcAft>
                <a:spcPts val="0"/>
              </a:spcAft>
              <a:buClr>
                <a:srgbClr val="000000"/>
              </a:buClr>
              <a:buSzPts val="1200"/>
              <a:buFont typeface="Nunito SemiBold"/>
              <a:buAutoNum type="arabicPeriod"/>
            </a:pPr>
            <a:r>
              <a:rPr lang="en" sz="1200">
                <a:solidFill>
                  <a:srgbClr val="000000"/>
                </a:solidFill>
                <a:latin typeface="Nunito SemiBold"/>
                <a:ea typeface="Nunito SemiBold"/>
                <a:cs typeface="Nunito SemiBold"/>
                <a:sym typeface="Nunito SemiBold"/>
              </a:rPr>
              <a:t>“Real-time Human Pose Estimation from Video with Convolutional Neural Networks,” Marko Linna, Juho Kannala, and Esa Rahtu. in ARXIV, 2016.</a:t>
            </a:r>
            <a:endParaRPr sz="1200">
              <a:solidFill>
                <a:srgbClr val="000000"/>
              </a:solidFill>
              <a:latin typeface="Nunito SemiBold"/>
              <a:ea typeface="Nunito SemiBold"/>
              <a:cs typeface="Nunito SemiBold"/>
              <a:sym typeface="Nunito SemiBold"/>
            </a:endParaRPr>
          </a:p>
          <a:p>
            <a:pPr indent="0" lvl="0" marL="457200" rtl="0" algn="just">
              <a:lnSpc>
                <a:spcPct val="115000"/>
              </a:lnSpc>
              <a:spcBef>
                <a:spcPts val="1200"/>
              </a:spcBef>
              <a:spcAft>
                <a:spcPts val="0"/>
              </a:spcAft>
              <a:buNone/>
            </a:pPr>
            <a:r>
              <a:t/>
            </a:r>
            <a:endParaRPr sz="1200">
              <a:solidFill>
                <a:srgbClr val="000000"/>
              </a:solidFill>
              <a:latin typeface="Nunito SemiBold"/>
              <a:ea typeface="Nunito SemiBold"/>
              <a:cs typeface="Nunito SemiBold"/>
              <a:sym typeface="Nunito SemiBold"/>
            </a:endParaRPr>
          </a:p>
          <a:p>
            <a:pPr indent="0" lvl="0" marL="0" rtl="0" algn="just">
              <a:lnSpc>
                <a:spcPct val="115000"/>
              </a:lnSpc>
              <a:spcBef>
                <a:spcPts val="1200"/>
              </a:spcBef>
              <a:spcAft>
                <a:spcPts val="1200"/>
              </a:spcAft>
              <a:buNone/>
            </a:pPr>
            <a:r>
              <a:t/>
            </a:r>
            <a:endParaRPr sz="1200">
              <a:latin typeface="Nunito SemiBold"/>
              <a:ea typeface="Nunito SemiBold"/>
              <a:cs typeface="Nunito SemiBold"/>
              <a:sym typeface="Nunito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